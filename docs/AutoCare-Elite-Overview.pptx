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5D-4A0E-BA9D-1DEE8744A2AE}"/>
              </c:ext>
            </c:extLst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5D-4A0E-BA9D-1DEE8744A2AE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5D-4A0E-BA9D-1DEE8744A2A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5D-4A0E-BA9D-1DEE8744A2A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5D-4A0E-BA9D-1DEE8744A2AE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5D-4A0E-BA9D-1DEE8744A2A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Working</c:v>
                </c:pt>
                <c:pt idx="1">
                  <c:v>Partly working</c:v>
                </c:pt>
                <c:pt idx="2">
                  <c:v>Needs fixing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65D-4A0E-BA9D-1DEE8744A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54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overview. Three audiences in one platform: car owners, workshops, and the platform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is what makes the product multi-sided. Each portal only shows that role what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status quo for most independent workshops. Right is what the platform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customer steps. The status pipeline is shared by service bookings and towing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Towing is deliberately lighter: no catalog, no scheduling, no price — just come and get the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code is issued the moment the booking is created, not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Towing has no price or payment in the product today — that is settled directly with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 is custody proof. Anything where an item physically changes hands benefits from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login system, three completely separate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Familiar stack means easy hiring and long-term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hardest thing to add later, and it is already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of the build in 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an open marketplace — there is no discovery or ranking. Best where customers already know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reusable core is the scheduled-work plus emergency-dispatch duality, which most booking software does not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straight about status builds trust. Nothing here is architectural — it is finishing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summary and the three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01133" y="0"/>
            <a:ext cx="1216152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993392"/>
            <a:ext cx="969264" cy="969264"/>
          </a:xfrm>
          <a:prstGeom prst="roundRect">
            <a:avLst>
              <a:gd name="adj" fmla="val 1886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24028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312724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AutoCare Elite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66928" y="40599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service booking and roadside assistance, for a network of workshops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AutoCare Elite?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kinds of user — each with their own portal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19856" cy="3602736"/>
          </a:xfrm>
          <a:prstGeom prst="roundRect">
            <a:avLst>
              <a:gd name="adj" fmla="val 3209"/>
            </a:avLst>
          </a:prstGeom>
          <a:solidFill>
            <a:srgbClr val="EFF6FF"/>
          </a:solidFill>
          <a:ln w="2222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2808" y="1883664"/>
            <a:ext cx="768096" cy="7680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4825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98064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owner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9264" y="3255264"/>
            <a:ext cx="27066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workshop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service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towing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and pays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with a code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70832" y="1572768"/>
            <a:ext cx="3419856" cy="3602736"/>
          </a:xfrm>
          <a:prstGeom prst="roundRect">
            <a:avLst>
              <a:gd name="adj" fmla="val 3209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6712" y="1883664"/>
            <a:ext cx="768096" cy="7680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04825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98064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73168" y="3255264"/>
            <a:ext cx="27066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its price list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jobs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job status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tow trucks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enquiries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74736" y="1572768"/>
            <a:ext cx="3419856" cy="3602736"/>
          </a:xfrm>
          <a:prstGeom prst="roundRect">
            <a:avLst>
              <a:gd name="adj" fmla="val 3209"/>
            </a:avLst>
          </a:prstGeom>
          <a:solidFill>
            <a:srgbClr val="F1F5F9"/>
          </a:solidFill>
          <a:ln w="22225">
            <a:solidFill>
              <a:srgbClr val="64748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0616" y="1883664"/>
            <a:ext cx="768096" cy="7680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798064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owner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77072" y="3255264"/>
            <a:ext cx="27066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workshops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job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the network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17904"/>
            <a:ext cx="5230368" cy="3803904"/>
          </a:xfrm>
          <a:prstGeom prst="roundRect">
            <a:avLst>
              <a:gd name="adj" fmla="val 2885"/>
            </a:avLst>
          </a:prstGeom>
          <a:solidFill>
            <a:srgbClr val="FEF2F2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77393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phone calls and paper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" y="228600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has to call to ask "is it ready?"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live on a whiteboard or in someone's head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list the customer can see beforehand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disputes with nothing on record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location described badly over a call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64224" y="1517904"/>
            <a:ext cx="5230368" cy="3803904"/>
          </a:xfrm>
          <a:prstGeom prst="roundRect">
            <a:avLst>
              <a:gd name="adj" fmla="val 288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77393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AUTOCARE ELITE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76288" y="228600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visible online at every stage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job queue per workshop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catalog with prices up front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handover confirmed by a 6-digit code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captured from the phone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customer actually does, from choosing a workshop to driving away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8013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preferred workshop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12848" y="2464308"/>
            <a:ext cx="164592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59736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8105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8013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06040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its services with prices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105656" y="2464308"/>
            <a:ext cx="164592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52544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98848" y="18105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9884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8013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98848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498848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services and a time slot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998464" y="2464308"/>
            <a:ext cx="164592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45352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91656" y="18105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9165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1801368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91656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391656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job as it progresses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891272" y="2464308"/>
            <a:ext cx="164592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38160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284464" y="181051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28446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6" y="1801368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84464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284464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the workshop, or online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9784080" y="2464308"/>
            <a:ext cx="164592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030968" y="1664208"/>
            <a:ext cx="1563624" cy="1755648"/>
          </a:xfrm>
          <a:prstGeom prst="roundRect">
            <a:avLst>
              <a:gd name="adj" fmla="val 7018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177272" y="181051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01772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7664" y="1801368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177272" y="226771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177272" y="2569464"/>
            <a:ext cx="1271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6-digit code confirms handover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566928" y="385876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moves through one shared pipeline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566928" y="4261104"/>
            <a:ext cx="1751990" cy="676656"/>
          </a:xfrm>
          <a:prstGeom prst="roundRect">
            <a:avLst>
              <a:gd name="adj" fmla="val 16216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66928" y="4261104"/>
            <a:ext cx="175199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2483510" y="4521708"/>
            <a:ext cx="237744" cy="1554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2885846" y="4261104"/>
            <a:ext cx="1751990" cy="676656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2885846" y="4261104"/>
            <a:ext cx="175199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4802429" y="4521708"/>
            <a:ext cx="237744" cy="1554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5204765" y="4261104"/>
            <a:ext cx="1751990" cy="676656"/>
          </a:xfrm>
          <a:prstGeom prst="roundRect">
            <a:avLst>
              <a:gd name="adj" fmla="val 1621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204765" y="4261104"/>
            <a:ext cx="175199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7121347" y="4521708"/>
            <a:ext cx="237744" cy="1554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523683" y="4261104"/>
            <a:ext cx="1751990" cy="676656"/>
          </a:xfrm>
          <a:prstGeom prst="roundRect">
            <a:avLst>
              <a:gd name="adj" fmla="val 16216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523683" y="4261104"/>
            <a:ext cx="175199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57" name="Shape 49"/>
          <p:cNvSpPr/>
          <p:nvPr/>
        </p:nvSpPr>
        <p:spPr>
          <a:xfrm>
            <a:off x="9440266" y="4521708"/>
            <a:ext cx="237744" cy="155448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9842602" y="4261104"/>
            <a:ext cx="1751990" cy="676656"/>
          </a:xfrm>
          <a:prstGeom prst="roundRect">
            <a:avLst>
              <a:gd name="adj" fmla="val 16216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9842602" y="4261104"/>
            <a:ext cx="175199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00" dirty="0"/>
          </a:p>
        </p:txBody>
      </p:sp>
      <p:sp>
        <p:nvSpPr>
          <p:cNvPr id="60" name="Text 52"/>
          <p:cNvSpPr/>
          <p:nvPr/>
        </p:nvSpPr>
        <p:spPr>
          <a:xfrm>
            <a:off x="566928" y="535838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jobs use the same pipeline — the customer just sees friendlier names: "Looking for driver" and "Driver en route".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job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and emergencies are handled differently, in one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230368" cy="416966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92224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81051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BOOKING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9344" y="21031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the customer comes to you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70662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670048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services in one visit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27355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53312" y="323697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from the workshop catalog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84048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312" y="380390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picks a date and time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40740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53312" y="437083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or online payment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4974336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53312" y="49377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confirms handover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364224" y="1517904"/>
            <a:ext cx="5230368" cy="416966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675120" y="1792224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36" y="1920240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06640" y="181051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TOWING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7406640" y="21031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you go to the customer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272" y="2706624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50608" y="2670048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form, no scheduling</a:t>
            </a:r>
            <a:endParaRPr lang="en-US" sz="14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8272" y="3273552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150608" y="323697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from the browser</a:t>
            </a:r>
            <a:endParaRPr lang="en-US" sz="14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8272" y="3840480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150608" y="380390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Tap-to-call the customer</a:t>
            </a:r>
            <a:endParaRPr lang="en-US" sz="14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8272" y="4407408"/>
            <a:ext cx="237744" cy="237744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150608" y="437083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dispatches a truck</a:t>
            </a:r>
            <a:endParaRPr lang="en-US" sz="14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8272" y="4974336"/>
            <a:ext cx="237744" cy="237744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150608" y="49377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confirms collection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booking,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7373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7282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catalog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 for the chosen workshop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45536" y="2500884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0712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7373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570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7282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services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57016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more; the total updates live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9320" y="2500884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4496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72821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0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contact, preferred slot, notes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833104" y="2500884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98280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44584" y="17373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445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4" y="172821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44584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payment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244584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the workshop, or online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204825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194560" y="42245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1945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8016" y="4215384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19456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219456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Pending · 6-digit code issued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587240" y="4988052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85241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998720" y="42245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9987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176" y="4215384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99872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works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499872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then In progress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7391400" y="4988052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65657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7802880" y="42245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78028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36" y="4215384"/>
            <a:ext cx="329184" cy="32918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80288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50" dirty="0"/>
          </a:p>
        </p:txBody>
      </p:sp>
      <p:sp>
        <p:nvSpPr>
          <p:cNvPr id="49" name="Text 40"/>
          <p:cNvSpPr/>
          <p:nvPr/>
        </p:nvSpPr>
        <p:spPr>
          <a:xfrm>
            <a:off x="780288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entered · status Completed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towing,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737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7282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opens the towing form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45536" y="2500884"/>
            <a:ext cx="182880" cy="155448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0712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737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570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7282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57016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vehicle, pickup address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9320" y="2500884"/>
            <a:ext cx="182880" cy="155448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4496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72821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0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captured from the browser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833104" y="2500884"/>
            <a:ext cx="182880" cy="155448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98280" y="1591056"/>
            <a:ext cx="2496312" cy="1975104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44584" y="1737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445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4" y="172821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44584" y="219456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raised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244584" y="2496312"/>
            <a:ext cx="2203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Driver · code issued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204825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194560" y="42245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1945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8016" y="4215384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19456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sees it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219456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link and tap-to-call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587240" y="4988052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85241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998720" y="42245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9987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176" y="4215384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99872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en route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499872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 for the customer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7391400" y="4988052"/>
            <a:ext cx="182880" cy="1554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656576" y="4078224"/>
            <a:ext cx="2456688" cy="1975104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7802880" y="42245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78028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36" y="4215384"/>
            <a:ext cx="329184" cy="32918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802880" y="4681728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1350" dirty="0"/>
          </a:p>
        </p:txBody>
      </p:sp>
      <p:sp>
        <p:nvSpPr>
          <p:cNvPr id="49" name="Text 40"/>
          <p:cNvSpPr/>
          <p:nvPr/>
        </p:nvSpPr>
        <p:spPr>
          <a:xfrm>
            <a:off x="7802880" y="4983480"/>
            <a:ext cx="216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confirms · status Completed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handover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carries a 6-digit code, so a collection is never just someone's word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0" cy="2395728"/>
          </a:xfrm>
          <a:prstGeom prst="roundRect">
            <a:avLst>
              <a:gd name="adj" fmla="val 4580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75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359152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7 8 4 9 2 0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66928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when the job is created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334256"/>
            <a:ext cx="4572000" cy="1700784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268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16736" y="4590288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77824" y="501091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stops being "he said, she said". Every completed job carries a record that the vehicle actually changed hands.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15584" y="1755648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90195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01968" y="173736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 created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01968" y="206654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issues a code to the customer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89904" y="2359152"/>
            <a:ext cx="0" cy="45720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15584" y="2871216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301752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01968" y="28529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completed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01968" y="318211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finishes the job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089904" y="3474720"/>
            <a:ext cx="0" cy="45720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815584" y="3986784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13308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01968" y="396849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handed over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601968" y="4297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gives it at pickup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089904" y="4590288"/>
            <a:ext cx="0" cy="45720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15584" y="510235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524865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01968" y="5084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closes on record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601968" y="5413248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handover, not a verbal one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portals, one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screens in total — each role only sees its 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419856" cy="3675888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751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47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17904" y="21214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" y="2578608"/>
            <a:ext cx="287121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2724912"/>
            <a:ext cx="26517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workshop choice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&amp; detail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request &amp; detail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1591056"/>
            <a:ext cx="3419856" cy="3675888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1847088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7510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847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21808" y="21214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45152" y="2578608"/>
            <a:ext cx="287121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2724912"/>
            <a:ext cx="26517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manager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dispatch board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inbox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74736" y="1591056"/>
            <a:ext cx="3419856" cy="3675888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2225">
            <a:solidFill>
              <a:srgbClr val="334155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49056" y="1847088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97510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25712" y="1847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125712" y="21214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49056" y="2578608"/>
            <a:ext cx="287121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50224" y="2724912"/>
            <a:ext cx="26517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dashboard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directory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workshop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towing jobs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standard, well-understood web stack — nothing exotic to maintain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3029712" cy="3054096"/>
          </a:xfrm>
          <a:prstGeom prst="roundRect">
            <a:avLst>
              <a:gd name="adj" fmla="val 3622"/>
            </a:avLst>
          </a:prstGeom>
          <a:solidFill>
            <a:srgbClr val="EFF6FF"/>
          </a:solidFill>
          <a:ln w="22225">
            <a:solidFill>
              <a:srgbClr val="2563EB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6024" y="2048256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16" y="2212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8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2663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7552" y="3602736"/>
            <a:ext cx="23164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portals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42944" y="3145536"/>
            <a:ext cx="676656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5904" y="1773936"/>
            <a:ext cx="3029712" cy="3054096"/>
          </a:xfrm>
          <a:prstGeom prst="roundRect">
            <a:avLst>
              <a:gd name="adj" fmla="val 3622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2048256"/>
            <a:ext cx="731520" cy="7315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21284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8784" y="2926080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8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748784" y="3200400"/>
            <a:ext cx="2663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986528" y="3602736"/>
            <a:ext cx="23164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permissions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rules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50 endpoints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41920" y="3145536"/>
            <a:ext cx="676656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64880" y="1773936"/>
            <a:ext cx="3029712" cy="3054096"/>
          </a:xfrm>
          <a:prstGeom prst="roundRect">
            <a:avLst>
              <a:gd name="adj" fmla="val 3622"/>
            </a:avLst>
          </a:prstGeom>
          <a:solidFill>
            <a:srgbClr val="F1F5F9"/>
          </a:solidFill>
          <a:ln w="22225">
            <a:solidFill>
              <a:srgbClr val="334155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13976" y="2048256"/>
            <a:ext cx="731520" cy="7315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8568" y="221284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47760" y="2926080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747760" y="3200400"/>
            <a:ext cx="2663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985504" y="3602736"/>
            <a:ext cx="23164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on record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Per-workshop separation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66928" y="51389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tokens on every request  ·  role checked on the server, not just in the browser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many workshops at once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workshop runs its own catalog and job queue, and cannot see the others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913632" y="1572768"/>
            <a:ext cx="4334256" cy="841248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8288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0016" y="15727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 —  sees every job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2414016"/>
            <a:ext cx="0" cy="4937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66928" y="3035808"/>
            <a:ext cx="3297936" cy="2139696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1012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273552"/>
            <a:ext cx="238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42416" y="3749040"/>
            <a:ext cx="252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service catalog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prices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job queue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customer messages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0760" y="2414016"/>
            <a:ext cx="0" cy="4937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431792" y="3035808"/>
            <a:ext cx="3297936" cy="2139696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310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6736" y="3273552"/>
            <a:ext cx="238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B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907280" y="3749040"/>
            <a:ext cx="252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service catalog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prices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job queue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customer messages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080760" y="2414016"/>
            <a:ext cx="3864864" cy="4937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296656" y="3035808"/>
            <a:ext cx="3297936" cy="2139696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264" y="331012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91600" y="3273552"/>
            <a:ext cx="238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772144" y="3749040"/>
            <a:ext cx="252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service catalog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prices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job queue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customer messages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66928" y="5486400"/>
            <a:ext cx="11027664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6013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61872" y="54864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is enforced on the server for every single request — not by hiding buttons in the browser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been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17904"/>
            <a:ext cx="2482596" cy="1700784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1664208"/>
            <a:ext cx="24825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15284" y="1517904"/>
            <a:ext cx="2482596" cy="1700784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5284" y="1664208"/>
            <a:ext cx="24825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415284" y="2578608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2482596" cy="1700784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664208"/>
            <a:ext cx="24825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263640" y="2578608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11996" y="1517904"/>
            <a:ext cx="2482596" cy="1700784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11996" y="1664208"/>
            <a:ext cx="24825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111996" y="2578608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49624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25296" y="3694176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and roles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3986784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Self-signup for customers, admin-created workshop accounts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95216" y="37124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376" y="3849624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53584" y="3694176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Per-workshop catalog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053584" y="3986784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workshop manages its own services and prices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223504" y="37124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664" y="38496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81872" y="3694176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881872" y="3986784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bookings with a live total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66928" y="493776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507492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25296" y="4919472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with GPS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225296" y="5212080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capture, map link and tap-to-call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95216" y="493776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2376" y="507492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53584" y="4919472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codes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053584" y="5212080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6-digit code on every job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223504" y="493776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0664" y="5074920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81872" y="4919472"/>
            <a:ext cx="265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881872" y="5212080"/>
            <a:ext cx="265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wired on the server side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most useful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fit where the workshop relationship is already directed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956816" cy="3145536"/>
          </a:xfrm>
          <a:prstGeom prst="roundRect">
            <a:avLst>
              <a:gd name="adj" fmla="val 5607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920240"/>
            <a:ext cx="621792" cy="6217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574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67004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chain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" y="325526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" y="3566160"/>
            <a:ext cx="1591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3–15 locations. Head office finally sees every branch in one place.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34640" y="1627632"/>
            <a:ext cx="1956816" cy="314553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192024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574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267004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workshop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17520" y="3566160"/>
            <a:ext cx="1591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garage that wants its own branded booking page instead of a paper diary.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102352" y="1627632"/>
            <a:ext cx="1956816" cy="314553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9864" y="1920240"/>
            <a:ext cx="621792" cy="6217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20574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0368" y="267004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230368" y="325526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DIFFERENTIATED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85232" y="3566160"/>
            <a:ext cx="1591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capture plus handover proof — a combination generic booking tools lack.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70064" y="1627632"/>
            <a:ext cx="1956816" cy="314553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37576" y="1920240"/>
            <a:ext cx="621792" cy="62179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20574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0" y="267004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network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552944" y="3566160"/>
            <a:ext cx="1591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affiliate garages under one brand, onboarded from a single form.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637776" y="1627632"/>
            <a:ext cx="1956816" cy="314553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305288" y="192024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20574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65792" y="267004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820656" y="3566160"/>
            <a:ext cx="15910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20–200 vehicles serviced across approved garages, tracked centrally.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 fits other trades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work plus emergency callouts, with proof of handover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122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920240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 &amp;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9344" y="2651760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a few days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5216" y="1700784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9536" y="1956816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984" y="21122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7632" y="1920240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&amp;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repair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37632" y="2651760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1–2 weeks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3504" y="1700784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7824" y="1956816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272" y="21122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5920" y="1920240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servicing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(AC, washing machine)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265920" y="2651760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2–3 weeks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822192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782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2336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4041648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electrical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handyman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9344" y="4773168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4–6 weeks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95216" y="3822192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9536" y="40782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984" y="42336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7632" y="4041648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37632" y="4773168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4–6 weeks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3504" y="3822192"/>
            <a:ext cx="337108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97824" y="40782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3272" y="423367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65920" y="4041648"/>
            <a:ext cx="2090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delivery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265920" y="4773168"/>
            <a:ext cx="209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about 3–4 months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with a sound foundation — not yet ready for paying customers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975104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features reviewed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3232" y="44988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443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 —  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48828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828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  —  12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3232" y="526694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212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  —  12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0368" y="1609344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 — about 10 to 14 weeks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0368" y="2066544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97296" y="2103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critical bugs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930384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230368" y="2761488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97296" y="27980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screen work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930384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230368" y="34564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036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97296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 &amp; secure handover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930384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230368" y="415137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97296" y="4187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search, notifications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930384" y="4187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230368" y="484632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0368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797296" y="48828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maintainability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930384" y="4882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230368" y="5614416"/>
            <a:ext cx="636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and multi-workshop separation are already right — the gaps are in payments, the handover code and a set of small wiring mistakes.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multi-workshop platform that turns car service and roadside rescue into something a customer can book, follow and verify.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593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913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portals already built — customer, workshop, platform owner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628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45171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data separation is correct at the server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6636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10–14 weeks of finishing work to production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1461</Words>
  <Application>Microsoft Office PowerPoint</Application>
  <PresentationFormat>Widescreen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AutoCare Elite — Product Overview</dc:title>
  <dc:subject>PptxGenJS Presentation</dc:subject>
  <dc:creator>Dolphin Web Solution PVT LTD</dc:creator>
  <cp:lastModifiedBy>pc050607</cp:lastModifiedBy>
  <cp:revision>2</cp:revision>
  <dcterms:created xsi:type="dcterms:W3CDTF">2026-08-13T09:49:01Z</dcterms:created>
  <dcterms:modified xsi:type="dcterms:W3CDTF">2026-08-13T09:51:36Z</dcterms:modified>
</cp:coreProperties>
</file>